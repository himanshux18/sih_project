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InfraRisk Monitor</a:t>
            </a:r>
          </a:p>
          <a:p>
            <a:pPr>
              <a:spcBef>
                <a:spcPts val="1000"/>
              </a:spcBef>
              <a:defRPr sz="2200">
                <a:solidFill>
                  <a:srgbClr val="93C5FD"/>
                </a:solidFill>
              </a:defRPr>
            </a:pPr>
            <a:r>
              <a:t>AI-Powered Early-Warning &amp; Capital Overrun Intelligence Platform</a:t>
            </a:r>
          </a:p>
          <a:p>
            <a:pPr>
              <a:spcBef>
                <a:spcPts val="2400"/>
              </a:spcBef>
              <a:defRPr sz="1400">
                <a:solidFill>
                  <a:srgbClr val="CBD5E1"/>
                </a:solidFill>
              </a:defRPr>
            </a:pPr>
            <a:r>
              <a:t>Smart India Hackathon | Predictive Governance for Centrally-Sponsored Infrastructure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Dual-ML Pipeline • Real-Time What-if Simulation • PAIMANA &amp; CAG Calibrated • Dynamic Rules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Context: The Infrastructure Overrun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The Ground Reality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40%+ of central infrastructure projects face severe time or cost overruns.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Average cost escalation exceeds 20% of original budget estimates.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Milestone delays cascade into multi-year economic bottlenecks.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Manual reporting creates a 60–90 day information blackout.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Traditional audits only detect failures retrospectively after money is spent.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The Leading Indicator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Physical Progress Lag is the single greatest predictor of cost escalation.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When elapsed duration significantly outpaces ground progress, contractors accelerate claims.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Disparity between fund utilization and physical assets built flags financial leakage.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Statutory land acquisition delays trigger exponential contractor idling 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The InfraRisk Solution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Predictive AI early warnings 6–12 months ahead of project commissioning.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Dual Machine Learning models trained on calibrated PAIMANA audit data.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Live What-if Simulator testing policy and funding intervention scenarios.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Transparent Explainable AI (XAI) feature importance drivers.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Automated PDF audit reports &amp; dynamic rule-based alerting.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High-Performance Full-Stack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Presentation Layer (Next.js 14 &amp; React 18)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Next.js App Router with TypeScript &amp; Tailwind CSS.   •   Recharts visualization engine: Step charts, multi-axis time-series, and horizontal bar charts.   •   Print-optimized CSS for executive PDF audit report generation.   •   RoleContext managing instant Admin / Viewer security mode switching.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Application &amp; API Layer (FastAPI &amp; Python 3.12)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High-throughput asynchronous ASGI microservice via Uvicorn.   •   Strict Pydantic v2 schemas for request validation and data contracts.   •   FastAPI CORS middleware supporting secure client-server synchronization.   •   Dedicated REST routers: /projects, /alerts, /upload, /comparison, /chat.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Machine Learning &amp; Analytics Engine (scikit-learn)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Gradient Boosting Classifier for High / Medium / Low risk classification (87.5% accuracy).   •   Gradient Boosting Regressor for cost overrun % forecasting (MAE: 4.60%).   •   Explainable AI feature weight extractor ranking ground risk contributors.   •   Real-time simulation engine generating instant prediction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4. Data Store &amp; Governance Layer (PAIMANA Calibrated)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800 national infrastructure packages across 5 sectors (Roads, Rail, Power, Urban, Irrigation).   •   Automatic ratio-to-percentage scaling and data quality compliance auditor.   •   Sequential budget revision audit log tracking statutory escalation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Machine Learning Engine: Proven 28.6% Baseline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Risk Classification Accuracy</a:t>
            </a:r>
          </a:p>
          <a:p>
            <a:pPr>
              <a:defRPr sz="3600" b="1">
                <a:solidFill>
                  <a:srgbClr val="2563EB"/>
                </a:solidFill>
              </a:defRPr>
            </a:pPr>
            <a:r>
              <a:t>87.5%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Gradient Boosting Classifier (100 estimators, max_depth=4)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AI Regressor Error (MAE)</a:t>
            </a:r>
          </a:p>
          <a:p>
            <a:pPr>
              <a:defRPr sz="3600" b="1">
                <a:solidFill>
                  <a:srgbClr val="16A34A"/>
                </a:solidFill>
              </a:defRPr>
            </a:pPr>
            <a:r>
              <a:t>4.60%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Mean Absolute Error on unseen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Improvement Over Baseline</a:t>
            </a:r>
          </a:p>
          <a:p>
            <a:pPr>
              <a:defRPr sz="3600" b="1">
                <a:solidFill>
                  <a:srgbClr val="D97706"/>
                </a:solidFill>
              </a:defRPr>
            </a:pPr>
            <a:r>
              <a:t>+28.6%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Outperforms standard Statistical Moving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Rigorous Statistical Benchmark Evaluation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 Gradient Boosting (Our AI Engine)  |  MAE: 4.60%  |  Accuracy: 87.5%  |  Captures non-linear interaction between lag and fund gaps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 Linear Regression (Statistical Baseline 1)  |  MAE: 4.79%  |  Accuracy: N/A  |  Fails to capture sudden compounding acceleration in delayed stages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 Historical Moving Average (Baseline 2)  |  MAE: 6.44%  |  Accuracy: N/A  |  Purely static average, unresponsive to early physical 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Smart Timeline &amp; Schedule Slip Overlay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Beyond Traditional Static Gantt Charts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Traditional Gantt charts only display pre-planned milestones. InfraRisk Monitor introduces an AI-projected delivery horizon comparing planned completion against actual ground velocity.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Sanctioned Start Date: Canonical milestone when project work is officially notified and sanctioned.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Today's Progress Marker: Dynamically plots elapsed duration percentage and compares with physical asset completion.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Target Commissioning Date: The original contractual completion date agreed in the tender document.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AI-Predicted Delivery Horizon: Evaluates current physical construction pace to compute actual commissioning date.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CRITICAL FEATURE — Highlighted Schedule Slip Overlay: A prominent, pulsing red overlay bar visually representing the exact gap (+X months) between target commissioning and AI-projected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Revised Budget Tracking &amp; Monthly Progress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Revised Capital Allocation (Money Tracking)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Complete budget audit history: Original Sanctioned Cost vs. Latest Approved Budget vs. Escalation %.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Interactive Step-Area Trajectory: Visualizes capital step-ups across sequential revision milestones.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Audit Log of Statutory Causes: Every revision records detailed reasons such as: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  - Scope expansion &amp; flyover interchange additions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  - Statutory land acquisition compensation awards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  - Material index inflation (cement &amp; structural steel)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  - Geological realignment in tunneling stretches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Monthly Progress &amp; Financial Snapshots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Historical Time-Series: Simulates 8–12 monthly progression milestones per infrastructure package.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Dual-Axis Recharts Engine: Plots Physical Progress %, Fund Utilization %, and Approved Budget (₹ Cr) concurrently.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Ground Divergence Detection: Instantly reveals when fund drawdown accelerates while physical milestones stagnate.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Forensic Audit Ready: Allows project steering committees to identify the exact month when a project deviated from schedule.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What-If Risk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Real-Time Scenario Testing for Policy &amp; Project Managers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Instead of static dashboards, decision-makers can adjust operational parameters on any project and watch the ML model re-predict risk in real time.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Interactive Sliders: Instant control over Physical Progress % (0–100%), Fund Utilization % (0–150%), and Elapsed Duration % (10–140%).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Instant Model Inference: Live client-side debounced calls to the backend /api/projects/simulate endpoint.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Dynamic Delta Tracking: Shows the exact reduction or increase in predicted overrun (e.g., 'Δ Overrun: -12.4% vs baseline').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Explainable AI Weights: Real-time bar chart showing how risk driver weights shift as ground progress catches up.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Actionable Recommendations: Automated advice engines suggest whether contractor mobilization or fund pauses are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Configurable Early-Warning Rules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Dynamic Governance: Eliminating Hardcoded Alert Thresholds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Dynamic Evaluation: Alerts are not hardcoded static lists. All 800 projects are dynamically evaluated in real-time against active threshold rules.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Rule 1 — Severe Physical Progress Lag: Flags packages where elapsed duration exceeds physical completion by &gt; 20%.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Rule 2 — Critical Budget Overrun Escalation: Flags projects with cumulative cost overrun exceeding 25% of sanctioned budget.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Rule 3 — Expenditure Ahead of Physical Assets: Flags projects where fund utilization outpaces physical construction by &gt; 15%.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Rule 4 — Extended Timeline Slippage: Flags packages where schedule delay exceeds 8 months beyond planned delivery.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 Admin 'Manage Rules' Panel: Authorized administrators can toggle individual rules on/off and edit numerical thresholds with instant live alerts re-evaluation.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Agency Accountability Leaderboard &amp;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Ranking Implementing Agencies by Execution Discipline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Cross-Agency Benchmarking: Compares NHAI, Indian Railways, NTPC, Municipal Corporations, State PWD, and CPWD.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Comprehensive Evaluation Metrics: Evaluates average cost overrun %, average schedule delay (months), and high-risk package proportion.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Accountability Grading Scale: Automatically assigns performance grades from Grade A (Low Overrun) to Grade D (Critical Overruns).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Visual Recharts Comparison: Interactive bar chart displaying cost overrun spread across national agencies.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Public &amp; Ministerial Transparency: Empowers central oversight committees to incentivize top-performing agencies and audit underperforming bodies.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Ingestion, Compliance &amp; Role-Based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Functional CSV Ingestion &amp; Staging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Drag &amp; Drop File Upload: Ingests raw tabular project datasets seamlessly.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Automated Normalization: Translates ratio values (0–2) to standard percentages (0–100%).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Pre-Commit Staging Dashboard: Displays rows processed, risk distribution counts, and top at-risk projects before committing.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One-Click Database Merge: 'Add these projects to dashboard' button persists records into central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Compliance Scoring &amp; Role Access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Data Freshness Audit: Tracks last_updated_date for each project.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Reporting Overdue Badge: Flags packages with &gt; 60 days of inactivity on Dashboard and Project Explorer.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Client-Side Role Security: Top-navbar toggle between Admin and Viewer modes.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Viewer Mode Restriction: Read-only access to monitoring views, with editing and CSV ingestion locked for non-admins.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INFRARISK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Conversational AI Assistant &amp; Natural Language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Natural Language Infrastructure Intelligence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Open-Ended Conversational Querying: Users can ask arbitrary, free-form analytical questions rather than choosing static pre-set options.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Head-to-Head Agency Comparisons: 'Compare NHAI vs Indian Railways' produces instant comparative markdown tables.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Portfolio Extreme Discovery: 'Which project has the highest delay?' or 'Most expensive project in Power' extracts exact project records.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Financial &amp; Compliance Summaries: Inquires about total portfolio budget in ₹ Crores, overdue reporting counts, and sector trends.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Hybrid Architecture: Deep in-memory Pandas analytical query engine with zero offline dependency + plug-and-play Google Gemini LLM grounding.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National Impact &amp; Future Roadmap</a:t>
            </a:r>
          </a:p>
          <a:p>
            <a:pPr>
              <a:spcBef>
                <a:spcPts val="1400"/>
              </a:spcBef>
              <a:defRPr sz="1400">
                <a:solidFill>
                  <a:srgbClr val="93C5FD"/>
                </a:solidFill>
              </a:defRPr>
            </a:pPr>
            <a:r>
              <a:t>✓  Capital Conservation: Early intervention on just 5% of at-risk mega projects saves thousands of crores for the national exchequer.</a:t>
            </a:r>
          </a:p>
          <a:p>
            <a:pPr>
              <a:spcBef>
                <a:spcPts val="1400"/>
              </a:spcBef>
              <a:defRPr sz="1400">
                <a:solidFill>
                  <a:srgbClr val="93C5FD"/>
                </a:solidFill>
              </a:defRPr>
            </a:pPr>
            <a:r>
              <a:t>✓  Predictive Rather Than Autopsy: Shifting governance from historical post-mortem audits to proactive real-time mitigation.</a:t>
            </a:r>
          </a:p>
          <a:p>
            <a:pPr>
              <a:spcBef>
                <a:spcPts val="1400"/>
              </a:spcBef>
              <a:defRPr sz="1400">
                <a:solidFill>
                  <a:srgbClr val="93C5FD"/>
                </a:solidFill>
              </a:defRPr>
            </a:pPr>
            <a:r>
              <a:t>✓  Inter-Agency Synergy: Transparent accountability benchmarking eliminates inter-departmental finger-pointing.</a:t>
            </a:r>
          </a:p>
          <a:p>
            <a:pPr>
              <a:spcBef>
                <a:spcPts val="2200"/>
              </a:spcBef>
              <a:defRPr sz="1600" b="1">
                <a:solidFill>
                  <a:srgbClr val="FDE047"/>
                </a:solidFill>
              </a:defRPr>
            </a:pPr>
            <a:r>
              <a:t>Future Horizons (V2 Roadmap):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</a:defRPr>
            </a:pPr>
            <a:r>
              <a:t>   • Satellite Earth Observation: Integrating Sentinel-2 satellite imagery to verify physical construction progress from orbit.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</a:defRPr>
            </a:pPr>
            <a:r>
              <a:t>   • Monsoon &amp; Weather Impact AI: Integrating live weather APIs to forecast monsoon-driven construction halts.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</a:defRPr>
            </a:pPr>
            <a:r>
              <a:t>   • Direct MoSPI / PFMS API Integration: Automatic live sync with Public Financial Management System portals.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